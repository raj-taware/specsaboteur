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8A6FF"/>
                </a:solidFill>
                <a:latin typeface="Calibri"/>
              </a:defRPr>
            </a:pPr>
            <a:r>
              <a:t>SpecSaboteur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9D1D9"/>
                </a:solidFill>
                <a:latin typeface="Calibri"/>
              </a:defRPr>
            </a:pPr>
            <a:r>
              <a:t>Specification Adequacy via</a:t>
            </a:r>
            <a:br/>
            <a:r>
              <a:t>Adversarial Implementation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Apart Research x Atlas Computing | Secure Program Synthesis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883E"/>
                </a:solidFill>
                <a:latin typeface="Calibri"/>
              </a:defRPr>
            </a:pPr>
            <a:r>
              <a:t>Track: Specification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Calibri"/>
              </a:defRPr>
            </a:pPr>
            <a:r>
              <a:t>Raj Taware | github.com/Raj-Taware/specsaboteur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9D1D9"/>
                </a:solidFill>
                <a:latin typeface="Calibri"/>
              </a:defRPr>
            </a:pPr>
            <a:r>
              <a:t>Formal verification proves your code matches the spec.</a:t>
            </a:r>
            <a:br/>
            <a:r>
              <a:t>But what if the spec is wrong?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5149"/>
                </a:solidFill>
                <a:latin typeface="Calibri"/>
              </a:defRPr>
            </a:pPr>
            <a:r>
              <a:t>An incomplete specification makes verified code a liability, not an asset.</a:t>
            </a:r>
            <a:br/>
            <a:r>
              <a:t>The DAO hack (2016, $60M lost) exploited a spec gap: no reentrancy guard.</a:t>
            </a:r>
            <a:br/>
            <a:r>
              <a:t>A complete formal spec would have caught it -- if the spec itself was validated.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Sort spec: 'output must be ordered'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  Adversarial impl: replace all with 0,1,2,3...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  Dafny says: VERIFIED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  But: original elements are gone!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840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Sum spec: 'result &gt;= 0 || result &lt; 0'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  Adversarial impl: return 42;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  Dafny says: VERIFIED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  But: it didn't sum anything!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The Insight: Dual of CEGIS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Calibri"/>
              </a:defRPr>
            </a:pPr>
            <a:r>
              <a:t>CEGIS (existing):</a:t>
            </a:r>
            <a:br/>
            <a:r>
              <a:t>Counterexamples refine</a:t>
            </a:r>
            <a:br/>
            <a:r>
              <a:t>implementations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828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883E"/>
                </a:solidFill>
                <a:latin typeface="Calibri"/>
              </a:defRPr>
            </a:pPr>
            <a:r>
              <a:t>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EE787"/>
                </a:solidFill>
                <a:latin typeface="Calibri"/>
              </a:defRPr>
            </a:pPr>
            <a:r>
              <a:t>SpecSaboteur (new):</a:t>
            </a:r>
            <a:br/>
            <a:r>
              <a:t>Adversarial impls refine</a:t>
            </a:r>
            <a:br/>
            <a:r>
              <a:t>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D1D9"/>
                </a:solidFill>
                <a:latin typeface="Calibri"/>
              </a:defRPr>
            </a:pPr>
            <a:r>
              <a:t>If a WRONG implementation can VERIFY against your spec,</a:t>
            </a:r>
            <a:br/>
            <a:r>
              <a:t>your spec has a gap. Find it. Fix it. Repeat.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2A8FF"/>
                </a:solidFill>
                <a:latin typeface="Calibri"/>
              </a:defRPr>
            </a:pPr>
            <a:r>
              <a:t>First tool that generates adversarial implementations verified against formal specs to find semantic gaps.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1168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8A6FF"/>
                </a:solidFill>
                <a:latin typeface="Calibri"/>
              </a:defRPr>
            </a:pPr>
            <a:r>
              <a:t>1. Generate</a:t>
            </a:r>
          </a:p>
          <a:p>
            <a:pPr algn="ctr">
              <a:spcBef>
                <a:spcPts val="1000"/>
              </a:spcBef>
              <a:defRPr sz="1200">
                <a:solidFill>
                  <a:srgbClr val="C9D1D9"/>
                </a:solidFill>
                <a:latin typeface="Calibri"/>
              </a:defRPr>
            </a:pPr>
            <a:r>
              <a:t>LLM creates adversarial</a:t>
            </a:r>
            <a:br/>
            <a:r>
              <a:t>impl with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45920"/>
            <a:ext cx="201168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0883E"/>
                </a:solidFill>
                <a:latin typeface="Calibri"/>
              </a:defRPr>
            </a:pPr>
            <a:r>
              <a:t>2. Verify</a:t>
            </a:r>
          </a:p>
          <a:p>
            <a:pPr algn="ctr">
              <a:spcBef>
                <a:spcPts val="1000"/>
              </a:spcBef>
              <a:defRPr sz="1200">
                <a:solidFill>
                  <a:srgbClr val="C9D1D9"/>
                </a:solidFill>
                <a:latin typeface="Calibri"/>
              </a:defRPr>
            </a:pPr>
            <a:r>
              <a:t>Dafny verifier checks</a:t>
            </a:r>
            <a:br/>
            <a:r>
              <a:t>formal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201168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2A8FF"/>
                </a:solidFill>
                <a:latin typeface="Calibri"/>
              </a:defRPr>
            </a:pPr>
            <a:r>
              <a:t>3. Filter</a:t>
            </a:r>
          </a:p>
          <a:p>
            <a:pPr algn="ctr">
              <a:spcBef>
                <a:spcPts val="1000"/>
              </a:spcBef>
              <a:defRPr sz="1200">
                <a:solidFill>
                  <a:srgbClr val="C9D1D9"/>
                </a:solidFill>
                <a:latin typeface="Calibri"/>
              </a:defRPr>
            </a:pPr>
            <a:r>
              <a:t>Behavioral tests confirm</a:t>
            </a:r>
            <a:br/>
            <a:r>
              <a:t>adversarial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201168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5149"/>
                </a:solidFill>
                <a:latin typeface="Calibri"/>
              </a:defRPr>
            </a:pPr>
            <a:r>
              <a:t>4. Report</a:t>
            </a:r>
          </a:p>
          <a:p>
            <a:pPr algn="ctr">
              <a:spcBef>
                <a:spcPts val="1000"/>
              </a:spcBef>
              <a:defRPr sz="1200">
                <a:solidFill>
                  <a:srgbClr val="C9D1D9"/>
                </a:solidFill>
                <a:latin typeface="Calibri"/>
              </a:defRPr>
            </a:pPr>
            <a:r>
              <a:t>Gap description +</a:t>
            </a:r>
            <a:br/>
            <a:r>
              <a:t>suggested spec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645920"/>
            <a:ext cx="201168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EE787"/>
                </a:solidFill>
                <a:latin typeface="Calibri"/>
              </a:defRPr>
            </a:pPr>
            <a:r>
              <a:t>5. Refine</a:t>
            </a:r>
          </a:p>
          <a:p>
            <a:pPr algn="ctr">
              <a:spcBef>
                <a:spcPts val="1000"/>
              </a:spcBef>
              <a:defRPr sz="1200">
                <a:solidFill>
                  <a:srgbClr val="C9D1D9"/>
                </a:solidFill>
                <a:latin typeface="Calibri"/>
              </a:defRPr>
            </a:pPr>
            <a:r>
              <a:t>Apply fix, re-attack</a:t>
            </a:r>
            <a:br/>
            <a:r>
              <a:t>until 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D1D9"/>
                </a:solidFill>
                <a:latin typeface="Calibri"/>
              </a:defRPr>
            </a:pPr>
            <a:r>
              <a:t>Four adversarial strategies:</a:t>
            </a:r>
            <a:br/>
            <a:r>
              <a:t>Trivial Satisfaction | Edge Case Exploitation | Security Bypass | Vacuous Satisfaction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Two layers: Dafny formal verification (ground truth) + LLM-as-Judge (real-world software specs)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Demo: The Punchline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The Spec (looks correct):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onsolas"/>
              </a:defRPr>
            </a:pPr>
            <a:r>
              <a:t>method Max(a: array&lt;int&gt;) returns (m: int)</a:t>
            </a:r>
            <a:br/>
            <a:r>
              <a:t>  requires a.Length &gt; 0</a:t>
            </a:r>
            <a:br/>
            <a:r>
              <a:t>  ensures exists i :: 0 &lt;= i &lt; a.Length</a:t>
            </a:r>
            <a:br/>
            <a:r>
              <a:t>             &amp;&amp; a[i] ==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85149"/>
                </a:solidFill>
                <a:latin typeface="Calibri"/>
              </a:defRPr>
            </a:pPr>
            <a:r>
              <a:t>Adversarial Implementation: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onsolas"/>
              </a:defRPr>
            </a:pPr>
            <a:r>
              <a:t>method Max(a: array&lt;int&gt;) returns (m: int)</a:t>
            </a:r>
            <a:br/>
            <a:r>
              <a:t>  requires a.Length &gt; 0</a:t>
            </a:r>
            <a:br/>
            <a:r>
              <a:t>  ensures exists i :: ...</a:t>
            </a:r>
            <a:br/>
            <a:r>
              <a:t>{ return a[0]; }  // just first element!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74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EE787"/>
                </a:solidFill>
                <a:latin typeface="Calibri"/>
              </a:defRPr>
            </a:pPr>
            <a:r>
              <a:t>Dafny says: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85149"/>
                </a:solidFill>
                <a:latin typeface="Calibri"/>
              </a:defRPr>
            </a:pPr>
            <a:r>
              <a:t>Gap: Spec requires m exists in array, but not that m is the MAXIMUM.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EE787"/>
                </a:solidFill>
                <a:latin typeface="Consolas"/>
              </a:defRPr>
            </a:pPr>
            <a:r>
              <a:t>Fix: ensures forall i :: 0 &lt;= i &lt; a.Length ==&gt; m &gt;= a[i]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Calibri"/>
              </a:defRPr>
            </a:pPr>
            <a:r>
              <a:t>Re-attack after fix: NO GAPS FOUND. Spec converged in 2 iterations.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Results: Spec Strength Gradient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Calibri"/>
              </a:defRPr>
            </a:pPr>
            <a:r>
              <a:t>Same algorithms tested with weak &gt; medium &gt; strong specs. Stronger specs = fewer gaps.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82880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85149"/>
                </a:solidFill>
                <a:latin typeface="Calibri"/>
              </a:defRPr>
            </a:pPr>
            <a:r>
              <a:t>4 gaps (33%)</a:t>
            </a:r>
          </a:p>
          <a:p>
            <a:pPr algn="ctr">
              <a:defRPr sz="1000">
                <a:solidFill>
                  <a:srgbClr val="8B949E"/>
                </a:solidFill>
                <a:latin typeface="Calibri"/>
              </a:defRPr>
            </a:pPr>
            <a:r>
              <a:t>Weak 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011680"/>
            <a:ext cx="182880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0883E"/>
                </a:solidFill>
                <a:latin typeface="Calibri"/>
              </a:defRPr>
            </a:pPr>
            <a:r>
              <a:t>2 gaps (17%)</a:t>
            </a:r>
          </a:p>
          <a:p>
            <a:pPr algn="ctr">
              <a:defRPr sz="1000">
                <a:solidFill>
                  <a:srgbClr val="8B949E"/>
                </a:solidFill>
                <a:latin typeface="Calibri"/>
              </a:defRPr>
            </a:pPr>
            <a:r>
              <a:t>Medium 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011680"/>
            <a:ext cx="182880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7EE787"/>
                </a:solidFill>
                <a:latin typeface="Calibri"/>
              </a:defRPr>
            </a:pPr>
            <a:r>
              <a:t>1 gap (FP)</a:t>
            </a:r>
          </a:p>
          <a:p>
            <a:pPr algn="ctr">
              <a:defRPr sz="1000">
                <a:solidFill>
                  <a:srgbClr val="8B949E"/>
                </a:solidFill>
                <a:latin typeface="Calibri"/>
              </a:defRPr>
            </a:pPr>
            <a:r>
              <a:t>Strong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FP = false positive (adversarial impl actually computes correct max)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A8FF"/>
                </a:solidFill>
                <a:latin typeface="Calibri"/>
              </a:defRPr>
            </a:pPr>
            <a:r>
              <a:t>Layer 2 (Software Specs - LLM-as-Judge):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Calibri"/>
              </a:defRPr>
            </a:pPr>
            <a:r>
              <a:t>REST API: gaps in 100% of trials (trivial empty response)</a:t>
            </a:r>
            <a:br/>
            <a:r>
              <a:t>Solidity: 0% (strong spec catches attacks)</a:t>
            </a:r>
            <a:br/>
            <a:r>
              <a:t>Auth RBAC: 20% (intermittent security bypass)</a:t>
            </a:r>
            <a:br/>
            <a:r>
              <a:t>Database: 20% (case-sensitivity gap found)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EE787"/>
                </a:solidFill>
                <a:latin typeface="Calibri"/>
              </a:defRPr>
            </a:pPr>
            <a:r>
              <a:t>Monotonic gradient validates sensitivity AND specificity.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Iterative Refinement: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alibri"/>
              </a:defRPr>
            </a:pPr>
            <a:r>
              <a:t>Attack -&gt; Fix -&gt; Re-attack -&gt; Converge. All specs converge in &lt;= 2 iterations.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D1D9"/>
                </a:solidFill>
                <a:latin typeface="Calibri"/>
              </a:defRPr>
            </a:pPr>
            <a:r>
              <a:t>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E787"/>
                </a:solidFill>
                <a:latin typeface="Calibri"/>
              </a:defRPr>
            </a:pPr>
            <a:r>
              <a:t>1 &gt;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multiset(a[..]) == multiset(old(a)[..])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D1D9"/>
                </a:solidFill>
                <a:latin typeface="Calibri"/>
              </a:defRPr>
            </a:pPr>
            <a:r>
              <a:t>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E787"/>
                </a:solidFill>
                <a:latin typeface="Calibri"/>
              </a:defRPr>
            </a:pPr>
            <a:r>
              <a:t>1 &gt;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743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forall i :: a[i] &lt;=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D1D9"/>
                </a:solidFill>
                <a:latin typeface="Calibri"/>
              </a:defRPr>
            </a:pPr>
            <a:r>
              <a:t>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E787"/>
                </a:solidFill>
                <a:latin typeface="Calibri"/>
              </a:defRPr>
            </a:pPr>
            <a:r>
              <a:t>1 &gt;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x &lt; 0 ==&gt; result == -x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D1D9"/>
                </a:solidFill>
                <a:latin typeface="Calibri"/>
              </a:defRPr>
            </a:pPr>
            <a:r>
              <a:t>Sum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E787"/>
                </a:solidFill>
                <a:latin typeface="Calibri"/>
              </a:defRPr>
            </a:pPr>
            <a:r>
              <a:t>2 &gt;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s == sum(a)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D1D9"/>
                </a:solidFill>
                <a:latin typeface="Calibri"/>
              </a:defRPr>
            </a:pPr>
            <a:r>
              <a:t>BinSearch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37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E787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937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(already adequate)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D1D9"/>
                </a:solidFill>
                <a:latin typeface="Calibri"/>
              </a:defRPr>
            </a:pPr>
            <a:r>
              <a:t>FindFirst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EE787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(already adequate)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645920"/>
            <a:ext cx="182880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7EE787"/>
                </a:solidFill>
                <a:latin typeface="Calibri"/>
              </a:defRPr>
            </a:pPr>
            <a:r>
              <a:t>6/6</a:t>
            </a:r>
          </a:p>
          <a:p>
            <a:pPr algn="ctr">
              <a:defRPr sz="1000">
                <a:solidFill>
                  <a:srgbClr val="8B949E"/>
                </a:solidFill>
                <a:latin typeface="Calibri"/>
              </a:defRPr>
            </a:pPr>
            <a:r>
              <a:t>Converged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645920"/>
            <a:ext cx="182880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58A6FF"/>
                </a:solidFill>
                <a:latin typeface="Calibri"/>
              </a:defRPr>
            </a:pPr>
            <a:r>
              <a:t>1.7</a:t>
            </a:r>
          </a:p>
          <a:p>
            <a:pPr algn="ctr">
              <a:defRPr sz="1000">
                <a:solidFill>
                  <a:srgbClr val="8B949E"/>
                </a:solidFill>
                <a:latin typeface="Calibri"/>
              </a:defRPr>
            </a:pPr>
            <a:r>
              <a:t>Avg Iterations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Gap Taxonomy: 12 Patterns, 6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D1D9"/>
                </a:solidFill>
                <a:latin typeface="Calibri"/>
              </a:defRPr>
            </a:pPr>
            <a:r>
              <a:t>Missing Preservation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Input elements lost in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D1D9"/>
                </a:solidFill>
                <a:latin typeface="Calibri"/>
              </a:defRPr>
            </a:pPr>
            <a:r>
              <a:t>Missing Reentrancy 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No protection against reentrant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D1D9"/>
                </a:solidFill>
                <a:latin typeface="Calibri"/>
              </a:defRPr>
            </a:pPr>
            <a:r>
              <a:t>Tautological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Postcondition constrains nothing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D1D9"/>
                </a:solidFill>
                <a:latin typeface="Calibri"/>
              </a:defRPr>
            </a:pPr>
            <a:r>
              <a:t>Missing Negative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033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03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883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Only handles positive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D1D9"/>
                </a:solidFill>
                <a:latin typeface="Calibri"/>
              </a:defRPr>
            </a:pPr>
            <a:r>
              <a:t>Missing 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80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480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883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Bound not tied to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57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9D1D9"/>
                </a:solidFill>
                <a:latin typeface="Calibri"/>
              </a:defRPr>
            </a:pPr>
            <a:r>
              <a:t>Uncategorized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257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257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883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257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API-specific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A8FF"/>
                </a:solidFill>
                <a:latin typeface="Calibri"/>
              </a:defRPr>
            </a:pPr>
            <a:r>
              <a:t>Training data for spec-repair models | Spec linting rules for known weaknesses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Atlas IDE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9D1D9"/>
                </a:solidFill>
                <a:latin typeface="Calibri"/>
              </a:defRPr>
            </a:pPr>
            <a:r>
              <a:t>Atlas helps write specs. SpecSaboteur validates them.</a:t>
            </a:r>
            <a:br/>
            <a:r>
              <a:t>Together: a closed write-validate-refine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22860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t>Write Spec</a:t>
            </a:r>
          </a:p>
          <a:p>
            <a:pPr algn="ctr">
              <a:spcBef>
                <a:spcPts val="800"/>
              </a:spcBef>
              <a:defRPr sz="1300">
                <a:solidFill>
                  <a:srgbClr val="C9D1D9"/>
                </a:solidFill>
                <a:latin typeface="Calibri"/>
              </a:defRPr>
            </a:pPr>
            <a:r>
              <a:t>Atlas 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926080"/>
            <a:ext cx="22860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5149"/>
                </a:solidFill>
                <a:latin typeface="Calibri"/>
              </a:defRPr>
            </a:pPr>
            <a:r>
              <a:t>Attack Spec</a:t>
            </a:r>
          </a:p>
          <a:p>
            <a:pPr algn="ctr">
              <a:spcBef>
                <a:spcPts val="800"/>
              </a:spcBef>
              <a:defRPr sz="1300">
                <a:solidFill>
                  <a:srgbClr val="C9D1D9"/>
                </a:solidFill>
                <a:latin typeface="Calibri"/>
              </a:defRPr>
            </a:pPr>
            <a:r>
              <a:t>SpecSaboteur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22860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0883E"/>
                </a:solidFill>
                <a:latin typeface="Calibri"/>
              </a:defRPr>
            </a:pPr>
            <a:r>
              <a:t>Show Gaps</a:t>
            </a:r>
          </a:p>
          <a:p>
            <a:pPr algn="ctr">
              <a:spcBef>
                <a:spcPts val="800"/>
              </a:spcBef>
              <a:defRPr sz="1300">
                <a:solidFill>
                  <a:srgbClr val="C9D1D9"/>
                </a:solidFill>
                <a:latin typeface="Calibri"/>
              </a:defRPr>
            </a:pPr>
            <a:r>
              <a:t>As Annotations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949E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926080"/>
            <a:ext cx="22860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EE787"/>
                </a:solidFill>
                <a:latin typeface="Calibri"/>
              </a:defRPr>
            </a:pPr>
            <a:r>
              <a:t>Accept Fixes</a:t>
            </a:r>
          </a:p>
          <a:p>
            <a:pPr algn="ctr">
              <a:spcBef>
                <a:spcPts val="800"/>
              </a:spcBef>
              <a:defRPr sz="1300">
                <a:solidFill>
                  <a:srgbClr val="C9D1D9"/>
                </a:solidFill>
                <a:latin typeface="Calibri"/>
              </a:defRPr>
            </a:pPr>
            <a:r>
              <a:t>Strengthen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D1D9"/>
                </a:solidFill>
                <a:latin typeface="Calibri"/>
              </a:defRPr>
            </a:pPr>
            <a:r>
              <a:t>Developers see adversarial attacks on their specs in real-time.</a:t>
            </a:r>
            <a:br/>
            <a:r>
              <a:t>Gaps surface BEFORE code generation. Specs improve iteratively.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Limitations (Honest Assessment)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False negatives: LLM creativity bounds gap discovery. Not a proof of spec adequacy.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Small benchmark: 10 specs is proof of concept, not comprehensive evaluation.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Single model: Only Qwen tested. Multi-model diversity would find more gaps.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Layer 2 weaker: LLM-as-Judge has no formal guarantees (unlike Dafny).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Strong tier false positive: 1 case where model generated correct impl but called it adversarial.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Calibri"/>
              </a:defRPr>
            </a:pPr>
            <a:r>
              <a:t>Sampling bug: Statistical robustness data partially corrupted (observational data available).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EE787"/>
                </a:solidFill>
                <a:latin typeface="Calibri"/>
              </a:defRPr>
            </a:pPr>
            <a:r>
              <a:t>These are known limitations, not fundamental barriers. Each has a clear path to resolution.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Fellowship Vision (4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Calibri"/>
              </a:defRPr>
            </a:pPr>
            <a:r>
              <a:t>What I would build with the Secure Program Synthesis Fellowship: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9D1D9"/>
                </a:solidFill>
                <a:latin typeface="Calibri"/>
              </a:defRPr>
            </a:pPr>
            <a:r>
              <a:t>Month 1: Atlas IDE integration - real-time spec validation as annotation layer</a:t>
            </a:r>
          </a:p>
          <a:p>
            <a:pPr>
              <a:spcAft>
                <a:spcPts val="600"/>
              </a:spcAft>
              <a:defRPr sz="1700">
                <a:solidFill>
                  <a:srgbClr val="C9D1D9"/>
                </a:solidFill>
                <a:latin typeface="Calibri"/>
              </a:defRPr>
            </a:pPr>
            <a:r>
              <a:t>Month 2: Multi-verifier support (Lean 4, Coq) + DafnyBench evaluation (782 programs)</a:t>
            </a:r>
          </a:p>
          <a:p>
            <a:pPr>
              <a:spcAft>
                <a:spcPts val="600"/>
              </a:spcAft>
              <a:defRPr sz="1700">
                <a:solidFill>
                  <a:srgbClr val="C9D1D9"/>
                </a:solidFill>
                <a:latin typeface="Calibri"/>
              </a:defRPr>
            </a:pPr>
            <a:r>
              <a:t>Month 3: Automated strategy discovery via LLM meta-reasoning</a:t>
            </a:r>
          </a:p>
          <a:p>
            <a:pPr>
              <a:spcAft>
                <a:spcPts val="600"/>
              </a:spcAft>
              <a:defRPr sz="1700">
                <a:solidFill>
                  <a:srgbClr val="C9D1D9"/>
                </a:solidFill>
                <a:latin typeface="Calibri"/>
              </a:defRPr>
            </a:pPr>
            <a:r>
              <a:t>Month 4: Paper submission + open-source release with CI/CD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Calibri"/>
              </a:defRPr>
            </a:pPr>
            <a:r>
              <a:t>Goal: Make SpecSaboteur the standard validation layer for any formal spec IDE.</a:t>
            </a:r>
            <a:br/>
            <a:r>
              <a:t>Every spec that ships should survive adversarial attack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Research output: 1 paper (specification gaming meets formal methods) + open-source tool</a:t>
            </a:r>
            <a:br/>
            <a:r>
              <a:t>Built end-to-end solo in 48h: pipeline, evaluation, reports,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883E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Novel approach: first tool generating verified adversarial impls to find spec gaps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Dual of CEGIS: counterexample-guided specification refinement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Empirically validated: monotonic gradient across 3 spec strength tiers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Convergence proven: all specs converge in &lt;= 2 refinement iterations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Real-world applicability: REST APIs, smart contracts, auth, databases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Security impact: found reentrancy + auth gaps in security-critical specs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Calibri"/>
              </a:defRPr>
            </a:pPr>
            <a:r>
              <a:t>Zero cost: open-source stack (Qwen + Ollama + Dafny)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182880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58A6FF"/>
                </a:solidFill>
                <a:latin typeface="Calibri"/>
              </a:defRPr>
            </a:pPr>
            <a:r>
              <a:t>14</a:t>
            </a:r>
          </a:p>
          <a:p>
            <a:pPr algn="ctr">
              <a:defRPr sz="1000">
                <a:solidFill>
                  <a:srgbClr val="8B949E"/>
                </a:solidFill>
                <a:latin typeface="Calibri"/>
              </a:defRPr>
            </a:pPr>
            <a:r>
              <a:t>Unique Specs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5303520"/>
            <a:ext cx="182880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85149"/>
                </a:solidFill>
                <a:latin typeface="Calibri"/>
              </a:defRPr>
            </a:pPr>
            <a:r>
              <a:t>12</a:t>
            </a:r>
          </a:p>
          <a:p>
            <a:pPr algn="ctr">
              <a:defRPr sz="1000">
                <a:solidFill>
                  <a:srgbClr val="8B949E"/>
                </a:solidFill>
                <a:latin typeface="Calibri"/>
              </a:defRPr>
            </a:pPr>
            <a:r>
              <a:t>Gaps Found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5303520"/>
            <a:ext cx="182880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7EE787"/>
                </a:solidFill>
                <a:latin typeface="Calibri"/>
              </a:defRPr>
            </a:pPr>
            <a:r>
              <a:t>6/6</a:t>
            </a:r>
          </a:p>
          <a:p>
            <a:pPr algn="ctr">
              <a:defRPr sz="1000">
                <a:solidFill>
                  <a:srgbClr val="8B949E"/>
                </a:solidFill>
                <a:latin typeface="Calibri"/>
              </a:defRPr>
            </a:pPr>
            <a:r>
              <a:t>Converged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303520"/>
            <a:ext cx="1828800" cy="1097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D2A8FF"/>
                </a:solidFill>
                <a:latin typeface="Calibri"/>
              </a:defRPr>
            </a:pPr>
            <a:r>
              <a:t>$0</a:t>
            </a:r>
          </a:p>
          <a:p>
            <a:pPr algn="ctr">
              <a:defRPr sz="1000">
                <a:solidFill>
                  <a:srgbClr val="8B949E"/>
                </a:solidFill>
                <a:latin typeface="Calibri"/>
              </a:defRPr>
            </a:pPr>
            <a:r>
              <a:t>API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